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0"/>
            <a:ext cx="64008" cy="2926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097280"/>
            <a:ext cx="64008" cy="2926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05840"/>
            <a:ext cx="64008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AI Mentor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64008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Mentee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64008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Platform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5943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AI-powered student-faculty matching system using semantic embeddings + Claude AI reasoning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1097280"/>
            <a:ext cx="2011680" cy="1828800"/>
          </a:xfrm>
          <a:prstGeom prst="rect">
            <a:avLst/>
          </a:prstGeom>
          <a:solidFill>
            <a:srgbClr val="1A1A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1430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0" y="1463040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Atul Kandiyil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Hariom N Kini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Meghana 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310896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3136392"/>
            <a:ext cx="1828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Powered by Claude API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1691640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9728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Manual &amp; Inefficient Matching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463040"/>
            <a:ext cx="38404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 and professors are matched manually through emails and word-of-mouth, leading to poor compatibility and wasted time on both sides.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114800" cy="1691640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005840"/>
            <a:ext cx="64008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109728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Keyword-Based Filters Only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10912" y="1463040"/>
            <a:ext cx="38404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platforms rely on self-selected tags and categories — they miss semantic meaning, learning style, and nuanced academic goals.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0" cy="1691640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64008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0175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❓ No Explainability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3383280"/>
            <a:ext cx="38404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Matching systems return a score but never explain why — students and mentors can't validate or trust the recommendation.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4114800" cy="1691640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926080"/>
            <a:ext cx="64008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30175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🏢 Enterprise Tools, Not Academic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10912" y="3383280"/>
            <a:ext cx="38404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Solutions like Chronus and Qooper are built for corporate HR — they don't understand research domains, publication history, or academic mentorship context.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Our Goal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1188720"/>
          </a:xfrm>
          <a:prstGeom prst="rect">
            <a:avLst/>
          </a:prstGeom>
          <a:solidFill>
            <a:srgbClr val="1A1A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24128"/>
            <a:ext cx="78638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an AI-powered platform where students describe their requirements, learning style, and domain — and get matched with the most compatible professor mentor, with a clear human-readable explanation of why.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97480" cy="2423160"/>
          </a:xfrm>
          <a:prstGeom prst="rect">
            <a:avLst/>
          </a:prstGeom>
          <a:solidFill>
            <a:srgbClr val="1A1A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31720"/>
            <a:ext cx="269748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3172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 GOAL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5146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Significantly reduce time-to-mentor and improve match quality through AI-driven compatibility scoring.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2331720"/>
            <a:ext cx="2697480" cy="2423160"/>
          </a:xfrm>
          <a:prstGeom prst="rect">
            <a:avLst/>
          </a:prstGeom>
          <a:solidFill>
            <a:srgbClr val="1A1A2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331720"/>
            <a:ext cx="2697480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33172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⚙️  METHOD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834640"/>
            <a:ext cx="25146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Semantic embeddings (OpenAI) + vector similarity search (pgvector) + Claude AI for contextual ranking and explanation.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331720"/>
            <a:ext cx="2697480" cy="2423160"/>
          </a:xfrm>
          <a:prstGeom prst="rect">
            <a:avLst/>
          </a:prstGeom>
          <a:solidFill>
            <a:srgbClr val="1A1A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331720"/>
            <a:ext cx="26974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33172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📤  OUTPUT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834640"/>
            <a:ext cx="25146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 receive their top matched professor along with a human-readable, explainable reason for the pairing.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Scope of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80467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7043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060704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335024"/>
            <a:ext cx="3429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Registration, secure login, profile creation &amp; editing for both mentors and mentees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023360" cy="80467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3055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055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020824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Mentor Profile System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295144"/>
            <a:ext cx="3429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Industry, skills, experience, mentoring domains, availability captured &amp; embedded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23360" cy="80467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9067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9067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980944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Mentee Profile System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255264"/>
            <a:ext cx="3429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Career goals, current skills, interests, aspired roles, and problems to solve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023360" cy="80467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5079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5079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941064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Matching Engine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215384"/>
            <a:ext cx="3429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 profiles, recommend top mentors, rank by compatibility using embeddings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1005840"/>
            <a:ext cx="4023360" cy="80467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17043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17043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1060704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Matches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1335024"/>
            <a:ext cx="3429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 API generates human-readable explanations for every pairing decision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1965960"/>
            <a:ext cx="4023360" cy="80467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13055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13055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2020824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 Loop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2295144"/>
            <a:ext cx="3429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tracking and match quality improvement over time via collected feedback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2926080"/>
            <a:ext cx="4023360" cy="80467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09067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9067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2980944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&amp; Tracking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3255264"/>
            <a:ext cx="3429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status, session history, and ongoing mentorship management interface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Functional Requirements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965960" cy="3566160"/>
          </a:xfrm>
          <a:prstGeom prst="rect">
            <a:avLst/>
          </a:prstGeom>
          <a:solidFill>
            <a:srgbClr val="1A1A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96596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60120"/>
            <a:ext cx="1828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1_ User Management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783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User registration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1783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Secure login &amp; authentication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79776"/>
            <a:ext cx="1783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Profile creation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38144"/>
            <a:ext cx="1783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Edit profile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1965960" cy="3566160"/>
          </a:xfrm>
          <a:prstGeom prst="rect">
            <a:avLst/>
          </a:prstGeom>
          <a:solidFill>
            <a:srgbClr val="1A1A2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960120"/>
            <a:ext cx="1965960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960120"/>
            <a:ext cx="1828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2_ Mentor Profile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60320" y="1463040"/>
            <a:ext cx="1783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Industry &amp; skills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121408"/>
            <a:ext cx="1783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Experience level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779776"/>
            <a:ext cx="1783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Mentoring domains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438144"/>
            <a:ext cx="1783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Availability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960120"/>
            <a:ext cx="1965960" cy="3566160"/>
          </a:xfrm>
          <a:prstGeom prst="rect">
            <a:avLst/>
          </a:prstGeom>
          <a:solidFill>
            <a:srgbClr val="1A1A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960120"/>
            <a:ext cx="19659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960120"/>
            <a:ext cx="1828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3_ Mentee Profile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1463040"/>
            <a:ext cx="1783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Career goals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2121408"/>
            <a:ext cx="1783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Current skills &amp; interests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779776"/>
            <a:ext cx="1783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Aspired roles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3438144"/>
            <a:ext cx="1783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Problems to solve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960120"/>
            <a:ext cx="1965960" cy="3566160"/>
          </a:xfrm>
          <a:prstGeom prst="rect">
            <a:avLst/>
          </a:prstGeom>
          <a:solidFill>
            <a:srgbClr val="1A1A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960120"/>
            <a:ext cx="196596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960120"/>
            <a:ext cx="1828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4_ AI Matching System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66560" y="1463040"/>
            <a:ext cx="1783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Analyze mentor &amp; mentee profiles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2121408"/>
            <a:ext cx="1783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Recommend top mentors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2779776"/>
            <a:ext cx="1783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Rank by compatibility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3438144"/>
            <a:ext cx="1783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Explainable results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These requirements mirror the 7-component scope — each functional area maps to a distinct deliverable module.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Research / Technology Gaps &amp; Challenges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553"/>
            <a:ext cx="8412480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206240" cy="1280160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54864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987552"/>
            <a:ext cx="3931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Cold Start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" y="1298448"/>
            <a:ext cx="3931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mentors with no history have no embeddings or feedback signals — pure semantic search may miss them despite high potential fit.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206240" cy="1280160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914400"/>
            <a:ext cx="54864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987552"/>
            <a:ext cx="3931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Static Profile Matching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56048" y="1298448"/>
            <a:ext cx="3931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goals and skills evolve rapidly. Profiles embedded at registration become stale, reducing match quality over time without re-embedding.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206240" cy="1280160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31720"/>
            <a:ext cx="54864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404872"/>
            <a:ext cx="3931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Embedding Bias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" y="2715768"/>
            <a:ext cx="3931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text-embedding-3-small may encode biases from training data, potentially skewing matches by writing style or demographic cues in profiles.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4206240" cy="1280160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331720"/>
            <a:ext cx="54864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404872"/>
            <a:ext cx="3931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LLM Hallucinations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2715768"/>
            <a:ext cx="3931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 may generate plausible but factually incorrect explanations for pairings — explainability quality must be validated with human review loops.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4206240" cy="1280160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749040"/>
            <a:ext cx="54864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822192"/>
            <a:ext cx="3931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Scalability of Vector Search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" y="4133088"/>
            <a:ext cx="3931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pgvector cosine similarity at scale requires HNSW or IVFFlat indexing — unindexed search degrades to O(n) and becomes a bottleneck at 10k+ profiles.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749040"/>
            <a:ext cx="4206240" cy="1280160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749040"/>
            <a:ext cx="54864" cy="1280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822192"/>
            <a:ext cx="3931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Feedback Loop Quality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56048" y="4133088"/>
            <a:ext cx="3931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improvement relies on honest session feedback. Students may not provide ratings, and mentors have less incentive — leading to sparse signal.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Our 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512064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5120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1371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960120"/>
            <a:ext cx="246888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Next.js + Tailwind CSS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0" y="960120"/>
            <a:ext cx="39776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Server-side rendering for fast profile pages; Tailwind for rapid responsive UI development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8229600" cy="512064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36192"/>
            <a:ext cx="54864" cy="5120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36192"/>
            <a:ext cx="1371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536192"/>
            <a:ext cx="246888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Next.js API Routes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1536192"/>
            <a:ext cx="39776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Serverless endpoints co-located with frontend; seamless integration with Vercel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12264"/>
            <a:ext cx="8229600" cy="512064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12264"/>
            <a:ext cx="54864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112264"/>
            <a:ext cx="1371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2112264"/>
            <a:ext cx="246888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+ pgvector + pg_trgm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0" y="2112264"/>
            <a:ext cx="39776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Relational data + native vector similarity search + fuzzy text matching in a single DB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88336"/>
            <a:ext cx="8229600" cy="512064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688336"/>
            <a:ext cx="54864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688336"/>
            <a:ext cx="1371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2688336"/>
            <a:ext cx="246888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Clerk / NextAuth.js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0" y="2688336"/>
            <a:ext cx="39776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Production-grade authentication with social login, JWT sessions, and role management (mentor/mentee)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64408"/>
            <a:ext cx="8229600" cy="512064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264408"/>
            <a:ext cx="54864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264408"/>
            <a:ext cx="1371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3264408"/>
            <a:ext cx="246888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text-embedding-3-small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0" y="3264408"/>
            <a:ext cx="39776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1536-dim semantic vectors from profile text; balances quality and cost for profile matching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512064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840480"/>
            <a:ext cx="54864" cy="5120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0"/>
            <a:ext cx="1371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Reasoning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11680" y="3840480"/>
            <a:ext cx="246888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 API (Anthropic)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0" y="3840480"/>
            <a:ext cx="39776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Ranks top candidates and generates human-readable match explanations — the explainability layer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416552"/>
            <a:ext cx="8229600" cy="512064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416552"/>
            <a:ext cx="54864" cy="5120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416552"/>
            <a:ext cx="1371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011680" y="4416552"/>
            <a:ext cx="246888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Vercel + Supabase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0" y="4416552"/>
            <a:ext cx="39776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Managed Postgres with pgvector support; Vercel handles CI/CD and edge deployment globally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Our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1554480" cy="3474720"/>
          </a:xfrm>
          <a:prstGeom prst="rect">
            <a:avLst/>
          </a:prstGeom>
          <a:solidFill>
            <a:srgbClr val="1A1A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55448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0352" y="1554480"/>
            <a:ext cx="1417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Onboarding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2057400"/>
            <a:ext cx="1417320" cy="2240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fills onboarding form — describes goals, domain, experience level, and learning style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29968" y="2606040"/>
            <a:ext cx="73152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960120"/>
            <a:ext cx="1554480" cy="3474720"/>
          </a:xfrm>
          <a:prstGeom prst="rect">
            <a:avLst/>
          </a:prstGeom>
          <a:solidFill>
            <a:srgbClr val="1A1A2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8840" y="960120"/>
            <a:ext cx="155448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96012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221992" y="1554480"/>
            <a:ext cx="1417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 Embedding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21992" y="2057400"/>
            <a:ext cx="1417320" cy="2240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is converted into a semantic vector via OpenAI text-embedding-3-small and stored in PostgreSQL (pgvector)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21608" y="2606040"/>
            <a:ext cx="73152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960120"/>
            <a:ext cx="1554480" cy="3474720"/>
          </a:xfrm>
          <a:prstGeom prst="rect">
            <a:avLst/>
          </a:prstGeom>
          <a:solidFill>
            <a:srgbClr val="1A1A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960120"/>
            <a:ext cx="1554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96012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913632" y="1554480"/>
            <a:ext cx="1417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Similarity Search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13632" y="2057400"/>
            <a:ext cx="1417320" cy="2240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pgvector runs cosine similarity search across all professor embeddings to find the closest semantic matches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13248" y="2606040"/>
            <a:ext cx="73152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960120"/>
            <a:ext cx="1554480" cy="3474720"/>
          </a:xfrm>
          <a:prstGeom prst="rect">
            <a:avLst/>
          </a:prstGeom>
          <a:solidFill>
            <a:srgbClr val="1A1A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32120" y="960120"/>
            <a:ext cx="155448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96012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05272" y="1554480"/>
            <a:ext cx="1417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 AI Ranking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05272" y="2057400"/>
            <a:ext cx="1417320" cy="2240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candidates are passed to Claude API, which contextually re-ranks them and generates a human-readable explanation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04888" y="2606040"/>
            <a:ext cx="73152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960120"/>
            <a:ext cx="1554480" cy="3474720"/>
          </a:xfrm>
          <a:prstGeom prst="rect">
            <a:avLst/>
          </a:prstGeom>
          <a:solidFill>
            <a:srgbClr val="1A1A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960120"/>
            <a:ext cx="15544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96012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96912" y="1554480"/>
            <a:ext cx="1417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Delivered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96912" y="2057400"/>
            <a:ext cx="1417320" cy="2240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receives their matched professor with a clear, explainable reason for the pairing — mentorship begins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Compared to Existing 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74320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914400"/>
            <a:ext cx="283464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91440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Mentor Collective / Qooper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914400"/>
            <a:ext cx="274320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91440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Platform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2743200" cy="53035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25880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Matching Approach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834640" cy="53035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325880"/>
            <a:ext cx="2688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Keyword tags / self-selected categories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743200" cy="53035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325880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Semantic embeddings (meaning-level)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1901952"/>
            <a:ext cx="2743200" cy="530352"/>
          </a:xfrm>
          <a:prstGeom prst="rect">
            <a:avLst/>
          </a:prstGeom>
          <a:solidFill>
            <a:srgbClr val="12121A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901952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Explainability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1901952"/>
            <a:ext cx="2834640" cy="530352"/>
          </a:xfrm>
          <a:prstGeom prst="rect">
            <a:avLst/>
          </a:prstGeom>
          <a:solidFill>
            <a:srgbClr val="12121A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3552" y="1901952"/>
            <a:ext cx="2688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Score only, no reasoning given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1901952"/>
            <a:ext cx="2743200" cy="530352"/>
          </a:xfrm>
          <a:prstGeom prst="rect">
            <a:avLst/>
          </a:prstGeom>
          <a:solidFill>
            <a:srgbClr val="12121A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901952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Claude generates human-readable reason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478024"/>
            <a:ext cx="2743200" cy="53035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478024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Context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478024"/>
            <a:ext cx="2834640" cy="53035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2478024"/>
            <a:ext cx="2688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Built for corporate HR workflows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2478024"/>
            <a:ext cx="2743200" cy="53035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478024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Research domains, learning style, academic goals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054096"/>
            <a:ext cx="2743200" cy="530352"/>
          </a:xfrm>
          <a:prstGeom prst="rect">
            <a:avLst/>
          </a:prstGeom>
          <a:solidFill>
            <a:srgbClr val="12121A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054096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Infrastructure Cost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0" y="3054096"/>
            <a:ext cx="2834640" cy="530352"/>
          </a:xfrm>
          <a:prstGeom prst="rect">
            <a:avLst/>
          </a:prstGeom>
          <a:solidFill>
            <a:srgbClr val="12121A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3054096"/>
            <a:ext cx="2688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Expensive enterprise licensing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3054096"/>
            <a:ext cx="2743200" cy="530352"/>
          </a:xfrm>
          <a:prstGeom prst="rect">
            <a:avLst/>
          </a:prstGeom>
          <a:solidFill>
            <a:srgbClr val="12121A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3054096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Open-source Postgres + pgvector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630168"/>
            <a:ext cx="2743200" cy="53035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3630168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Faculty Specificity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0" y="3630168"/>
            <a:ext cx="2834640" cy="53035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3552" y="3630168"/>
            <a:ext cx="2688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Generic mentor categories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26480" y="3630168"/>
            <a:ext cx="2743200" cy="53035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3630168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Professor-specific — student-to-faculty only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206240"/>
            <a:ext cx="2743200" cy="530352"/>
          </a:xfrm>
          <a:prstGeom prst="rect">
            <a:avLst/>
          </a:prstGeom>
          <a:solidFill>
            <a:srgbClr val="12121A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4206240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 Loop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0" y="4206240"/>
            <a:ext cx="2834640" cy="530352"/>
          </a:xfrm>
          <a:prstGeom prst="rect">
            <a:avLst/>
          </a:prstGeom>
          <a:solidFill>
            <a:srgbClr val="12121A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73552" y="4206240"/>
            <a:ext cx="2688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Basic ratings, no model retraining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26480" y="4206240"/>
            <a:ext cx="2743200" cy="530352"/>
          </a:xfrm>
          <a:prstGeom prst="rect">
            <a:avLst/>
          </a:prstGeom>
          <a:solidFill>
            <a:srgbClr val="12121A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9632" y="4206240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Feedback improves match quality over time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011680" cy="3611880"/>
          </a:xfrm>
          <a:prstGeom prst="rect">
            <a:avLst/>
          </a:prstGeom>
          <a:solidFill>
            <a:srgbClr val="1A1A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011680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35024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Onboarding &amp; Profiles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registration &amp; auth (Clerk)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Mentor &amp; mentee onboarding forms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145536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 storage in PostgreSQL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803904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 profile editing UI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96312" y="960120"/>
            <a:ext cx="2011680" cy="3611880"/>
          </a:xfrm>
          <a:prstGeom prst="rect">
            <a:avLst/>
          </a:prstGeom>
          <a:solidFill>
            <a:srgbClr val="1A1A2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960120"/>
            <a:ext cx="2011680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98755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Phase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96312" y="1335024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Matching Engine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87752" y="1828800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embedding generation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87752" y="2487168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pgvector similarity indexing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87752" y="3145536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 API ranking integration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87752" y="3803904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result display with explanation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26864" y="960120"/>
            <a:ext cx="2011680" cy="3611880"/>
          </a:xfrm>
          <a:prstGeom prst="rect">
            <a:avLst/>
          </a:prstGeom>
          <a:solidFill>
            <a:srgbClr val="1A1A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960120"/>
            <a:ext cx="201168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98755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Phase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26864" y="1335024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&amp; Tracking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18304" y="1828800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status dashboard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18304" y="2487168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tracking interface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18304" y="3145536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 system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18304" y="3803904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feature between pairs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57416" y="960120"/>
            <a:ext cx="2011680" cy="3611880"/>
          </a:xfrm>
          <a:prstGeom prst="rect">
            <a:avLst/>
          </a:prstGeom>
          <a:solidFill>
            <a:srgbClr val="1A1A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57416" y="960120"/>
            <a:ext cx="201168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57416" y="98755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Phase 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57416" y="1335024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 &amp; Enhancement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48856" y="1828800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Post-session feedback collection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48856" y="2487168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Feedback-driven re-ranking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48856" y="3145536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Placement priority scoring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48856" y="3803904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05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Resume enhancement (JD-based)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Mentee Side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023360" cy="71323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9616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Resume Enhancement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773936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resume suggestions based on job descriptions — tailored per student's profile and target role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67712"/>
            <a:ext cx="4023360" cy="71323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04288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💬 Chat Feature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messaging between matched mentor-mentee pairs with session scheduling integration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72384"/>
            <a:ext cx="4023360" cy="71323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089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📁 Project History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Mentees can log completed projects and research — used to improve future match quality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877056"/>
            <a:ext cx="4023360" cy="71323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1363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Placement Priority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187952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 actively appearing for placements get priority weighting in the matching algorithm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Mentor Side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463040"/>
            <a:ext cx="4023360" cy="71323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499616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Mentee Progress Dashboard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1773936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Mentors get a real-time view of mentee skill growth, session history, and goal completion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267712"/>
            <a:ext cx="4023360" cy="71323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304288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🔔 Smart Availability System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92040" y="2578608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Calendar integration with auto-suggestions for optimal session times based on both parties' schedules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072384"/>
            <a:ext cx="4023360" cy="71323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1089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 Feedback &amp; Rating Tools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92040" y="338328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post-session feedback forms that feed back into the AI matching model for quality improvement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877056"/>
            <a:ext cx="4023360" cy="713232"/>
          </a:xfrm>
          <a:prstGeom prst="rect">
            <a:avLst/>
          </a:prstGeom>
          <a:solidFill>
            <a:srgbClr val="1A1A2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91363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🎓 Research Collaboration Signals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92040" y="4187952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 open research positions or projects — surfaced to mentees with matching academic interests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Expected Deliverables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743200" cy="3931920"/>
          </a:xfrm>
          <a:prstGeom prst="rect">
            <a:avLst/>
          </a:prstGeom>
          <a:solidFill>
            <a:srgbClr val="1A1A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5603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— Foundation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55448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registration &amp; secure authentication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19456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Mentor &amp; mentee profile creation flows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83464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 database schema (PostgreSQL)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347472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 edit &amp; management UI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411480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 project timeline &amp; planning doc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960120"/>
            <a:ext cx="2743200" cy="3931920"/>
          </a:xfrm>
          <a:prstGeom prst="rect">
            <a:avLst/>
          </a:prstGeom>
          <a:solidFill>
            <a:srgbClr val="1A1A2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960120"/>
            <a:ext cx="2743200" cy="4754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960120"/>
            <a:ext cx="25603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— AI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568" y="155448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embedding pipeline for profiles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219456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pgvector similarity search integration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1568" y="283464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 API ranking &amp; explanation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1568" y="347472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results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1568" y="411480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High-level system architecture design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960120"/>
            <a:ext cx="2743200" cy="3931920"/>
          </a:xfrm>
          <a:prstGeom prst="rect">
            <a:avLst/>
          </a:prstGeom>
          <a:solidFill>
            <a:srgbClr val="1A1A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960120"/>
            <a:ext cx="27432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960120"/>
            <a:ext cx="25603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 — Production Polish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27648" y="155448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tracking &amp; feedback collection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27648" y="219456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 loop for match quality improvement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283464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feature between mentor-mentee pairs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27648" y="347472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Industry-standard security &amp; compliance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411480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paper on AI matching methodology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0"/>
            <a:ext cx="64008" cy="2286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280160"/>
            <a:ext cx="64008" cy="2286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80160"/>
            <a:ext cx="7315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and discussions are welcome.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5029200" cy="1371600"/>
          </a:xfrm>
          <a:prstGeom prst="rect">
            <a:avLst/>
          </a:prstGeom>
          <a:solidFill>
            <a:srgbClr val="1A1A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90672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4663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Next.js  </a:t>
            </a:r>
            <a:r>
              <a:rPr lang="en-US" sz="1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pgvector  </a:t>
            </a: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OpenAI Embeddings  </a:t>
            </a:r>
            <a:r>
              <a:rPr lang="en-US" sz="12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Claude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Atul Kandiyil  ·  Hariom N Kini  ·  Meghana 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8271</Words>
  <Application>WPS Presentation</Application>
  <PresentationFormat>On-screen Show (16:9)</PresentationFormat>
  <Paragraphs>420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Mentor Mentee Platform</dc:title>
  <dc:creator>PptxGenJS</dc:creator>
  <dc:subject>PptxGenJS Presentation</dc:subject>
  <cp:lastModifiedBy>Meghana Pillappa</cp:lastModifiedBy>
  <cp:revision>2</cp:revision>
  <dcterms:created xsi:type="dcterms:W3CDTF">2026-05-29T09:51:00Z</dcterms:created>
  <dcterms:modified xsi:type="dcterms:W3CDTF">2026-05-29T09:58:26Z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F8BDD961FEDC418392E978C6209ACA89_12</vt:lpwstr>
  </property>
  <property fmtid="{D5CDD505-2E9C-101B-9397-08002B2CF9AE}" pid="3" name="KSOProductBuildVer">
    <vt:lpwstr>1033-12.1.0.26372</vt:lpwstr>
  </property>
</Properties>
</file>